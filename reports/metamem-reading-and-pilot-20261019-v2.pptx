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9daf8fabef405b" /><Relationship Type="http://schemas.openxmlformats.org/officeDocument/2006/relationships/extended-properties" Target="/docProps/app.xml" Id="R42c3e87a458a4e20" /><Relationship Type="http://schemas.openxmlformats.org/officeDocument/2006/relationships/officeDocument" Target="/ppt/presentation.xml" Id="R0bf9854b464543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d809822f9f4339"/>
  </p:sldMasterIdLst>
  <p:notesMasterIdLst>
    <p:notesMasterId xmlns:r="http://schemas.openxmlformats.org/officeDocument/2006/relationships" r:id="Rb81402f2683b491f"/>
  </p:notesMasterIdLst>
  <p:sldIdLst>
    <p:sldId xmlns:r="http://schemas.openxmlformats.org/officeDocument/2006/relationships" id="256" r:id="R58fdf7fbe55b46be"/>
    <p:sldId xmlns:r="http://schemas.openxmlformats.org/officeDocument/2006/relationships" id="257" r:id="R9de12f2ebc53476b"/>
    <p:sldId xmlns:r="http://schemas.openxmlformats.org/officeDocument/2006/relationships" id="258" r:id="R7b2d09b504524d01"/>
    <p:sldId xmlns:r="http://schemas.openxmlformats.org/officeDocument/2006/relationships" id="259" r:id="Rccc666fc068b470e"/>
    <p:sldId xmlns:r="http://schemas.openxmlformats.org/officeDocument/2006/relationships" id="260" r:id="R23cf13e4ec664634"/>
    <p:sldId xmlns:r="http://schemas.openxmlformats.org/officeDocument/2006/relationships" id="261" r:id="Rd069ad4995b34572"/>
    <p:sldId xmlns:r="http://schemas.openxmlformats.org/officeDocument/2006/relationships" id="262" r:id="Rc06eb49348ad4df6"/>
    <p:sldId xmlns:r="http://schemas.openxmlformats.org/officeDocument/2006/relationships" id="263" r:id="R153f1d6a776b4ad2"/>
    <p:sldId xmlns:r="http://schemas.openxmlformats.org/officeDocument/2006/relationships" id="264" r:id="Rea302d6ac9d94a5b"/>
    <p:sldId xmlns:r="http://schemas.openxmlformats.org/officeDocument/2006/relationships" id="265" r:id="R0811f246adf54842"/>
    <p:sldId xmlns:r="http://schemas.openxmlformats.org/officeDocument/2006/relationships" id="266" r:id="Recb78b18832f4254"/>
    <p:sldId xmlns:r="http://schemas.openxmlformats.org/officeDocument/2006/relationships" id="267" r:id="Rf2e40bc2f1c24d5d"/>
    <p:sldId xmlns:r="http://schemas.openxmlformats.org/officeDocument/2006/relationships" id="268" r:id="Re99c3a6c06494cb4"/>
    <p:sldId xmlns:r="http://schemas.openxmlformats.org/officeDocument/2006/relationships" id="269" r:id="Ra713500976cb4737"/>
    <p:sldId xmlns:r="http://schemas.openxmlformats.org/officeDocument/2006/relationships" id="270" r:id="R88c25e570af84f68"/>
    <p:sldId xmlns:r="http://schemas.openxmlformats.org/officeDocument/2006/relationships" id="271" r:id="R2cb3a7f088154ec5"/>
    <p:sldId xmlns:r="http://schemas.openxmlformats.org/officeDocument/2006/relationships" id="272" r:id="Rfd6906e742fc4057"/>
    <p:sldId xmlns:r="http://schemas.openxmlformats.org/officeDocument/2006/relationships" id="273" r:id="Ree7c323566b947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8c3964720e4068" /><Relationship Type="http://schemas.openxmlformats.org/officeDocument/2006/relationships/slideMaster" Target="/ppt/slideMasters/slideMaster1.xml" Id="Rb2d809822f9f4339" /><Relationship Type="http://schemas.openxmlformats.org/officeDocument/2006/relationships/notesMaster" Target="/ppt/notesMasters/notesMaster1.xml" Id="Rb81402f2683b491f" /><Relationship Type="http://schemas.openxmlformats.org/officeDocument/2006/relationships/presProps" Target="/ppt/presProps.xml" Id="R2db57fbacbb34fe3" /><Relationship Type="http://schemas.openxmlformats.org/officeDocument/2006/relationships/tableStyles" Target="/ppt/tableStyles.xml" Id="R558e57dac55f4362" /><Relationship Type="http://schemas.openxmlformats.org/officeDocument/2006/relationships/slide" Target="/ppt/slides/slide1.xml" Id="R58fdf7fbe55b46be" /><Relationship Type="http://schemas.openxmlformats.org/officeDocument/2006/relationships/slide" Target="/ppt/slides/slide2.xml" Id="R9de12f2ebc53476b" /><Relationship Type="http://schemas.openxmlformats.org/officeDocument/2006/relationships/slide" Target="/ppt/slides/slide3.xml" Id="R7b2d09b504524d01" /><Relationship Type="http://schemas.openxmlformats.org/officeDocument/2006/relationships/slide" Target="/ppt/slides/slide4.xml" Id="Rccc666fc068b470e" /><Relationship Type="http://schemas.openxmlformats.org/officeDocument/2006/relationships/slide" Target="/ppt/slides/slide5.xml" Id="R23cf13e4ec664634" /><Relationship Type="http://schemas.openxmlformats.org/officeDocument/2006/relationships/slide" Target="/ppt/slides/slide6.xml" Id="Rd069ad4995b34572" /><Relationship Type="http://schemas.openxmlformats.org/officeDocument/2006/relationships/slide" Target="/ppt/slides/slide7.xml" Id="Rc06eb49348ad4df6" /><Relationship Type="http://schemas.openxmlformats.org/officeDocument/2006/relationships/slide" Target="/ppt/slides/slide8.xml" Id="R153f1d6a776b4ad2" /><Relationship Type="http://schemas.openxmlformats.org/officeDocument/2006/relationships/slide" Target="/ppt/slides/slide9.xml" Id="Rea302d6ac9d94a5b" /><Relationship Type="http://schemas.openxmlformats.org/officeDocument/2006/relationships/slide" Target="/ppt/slides/slide10.xml" Id="R0811f246adf54842" /><Relationship Type="http://schemas.openxmlformats.org/officeDocument/2006/relationships/slide" Target="/ppt/slides/slide11.xml" Id="Recb78b18832f4254" /><Relationship Type="http://schemas.openxmlformats.org/officeDocument/2006/relationships/slide" Target="/ppt/slides/slide12.xml" Id="Rf2e40bc2f1c24d5d" /><Relationship Type="http://schemas.openxmlformats.org/officeDocument/2006/relationships/slide" Target="/ppt/slides/slide13.xml" Id="Re99c3a6c06494cb4" /><Relationship Type="http://schemas.openxmlformats.org/officeDocument/2006/relationships/slide" Target="/ppt/slides/slide14.xml" Id="Ra713500976cb4737" /><Relationship Type="http://schemas.openxmlformats.org/officeDocument/2006/relationships/slide" Target="/ppt/slides/slide15.xml" Id="R88c25e570af84f68" /><Relationship Type="http://schemas.openxmlformats.org/officeDocument/2006/relationships/slide" Target="/ppt/slides/slide16.xml" Id="R2cb3a7f088154ec5" /><Relationship Type="http://schemas.openxmlformats.org/officeDocument/2006/relationships/slide" Target="/ppt/slides/slide17.xml" Id="Rfd6906e742fc4057" /><Relationship Type="http://schemas.openxmlformats.org/officeDocument/2006/relationships/slide" Target="/ppt/slides/slide18.xml" Id="Ree7c323566b947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af7b99ff3846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7953d2125a485f" /><Relationship Type="http://schemas.openxmlformats.org/officeDocument/2006/relationships/notesMaster" Target="/ppt/notesMasters/notesMaster1.xml" Id="R1426e97c98524a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cf968c31e14951" /><Relationship Type="http://schemas.openxmlformats.org/officeDocument/2006/relationships/notesMaster" Target="/ppt/notesMasters/notesMaster1.xml" Id="R3d99816f468b44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8a4524ba37497b" /><Relationship Type="http://schemas.openxmlformats.org/officeDocument/2006/relationships/notesMaster" Target="/ppt/notesMasters/notesMaster1.xml" Id="Rbafd25eaa06d44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81a19907cf4f15" /><Relationship Type="http://schemas.openxmlformats.org/officeDocument/2006/relationships/notesMaster" Target="/ppt/notesMasters/notesMaster1.xml" Id="R12adf1a66cf940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7a634602c14d68" /><Relationship Type="http://schemas.openxmlformats.org/officeDocument/2006/relationships/notesMaster" Target="/ppt/notesMasters/notesMaster1.xml" Id="R963e121824b640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f60de5e0c5455c" /><Relationship Type="http://schemas.openxmlformats.org/officeDocument/2006/relationships/notesMaster" Target="/ppt/notesMasters/notesMaster1.xml" Id="Rc4ca0d1baf254b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d8d95e062b4c0b" /><Relationship Type="http://schemas.openxmlformats.org/officeDocument/2006/relationships/notesMaster" Target="/ppt/notesMasters/notesMaster1.xml" Id="R7e87cda8027e4c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378533aaeb4582" /><Relationship Type="http://schemas.openxmlformats.org/officeDocument/2006/relationships/notesMaster" Target="/ppt/notesMasters/notesMaster1.xml" Id="R3504dd8e852c4a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ea01ef46c84b71" /><Relationship Type="http://schemas.openxmlformats.org/officeDocument/2006/relationships/notesMaster" Target="/ppt/notesMasters/notesMaster1.xml" Id="R9fb3797db11649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f5cb0962984b3b" /><Relationship Type="http://schemas.openxmlformats.org/officeDocument/2006/relationships/notesMaster" Target="/ppt/notesMasters/notesMaster1.xml" Id="Rd54c8a10689b4b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5900dcb85b48ab" /><Relationship Type="http://schemas.openxmlformats.org/officeDocument/2006/relationships/notesMaster" Target="/ppt/notesMasters/notesMaster1.xml" Id="R6889c27dee2e4b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052158addd4704" /><Relationship Type="http://schemas.openxmlformats.org/officeDocument/2006/relationships/notesMaster" Target="/ppt/notesMasters/notesMaster1.xml" Id="R18b27f02873c4a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14e6bf6dfe4ab2" /><Relationship Type="http://schemas.openxmlformats.org/officeDocument/2006/relationships/notesMaster" Target="/ppt/notesMasters/notesMaster1.xml" Id="R37611e20b60f4a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b21b9c8a894156" /><Relationship Type="http://schemas.openxmlformats.org/officeDocument/2006/relationships/notesMaster" Target="/ppt/notesMasters/notesMaster1.xml" Id="R1b4b6eb93f0946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2c754b1d264e22" /><Relationship Type="http://schemas.openxmlformats.org/officeDocument/2006/relationships/notesMaster" Target="/ppt/notesMasters/notesMaster1.xml" Id="Rdce624d0ac5a41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f86e04d6bb4ceb" /><Relationship Type="http://schemas.openxmlformats.org/officeDocument/2006/relationships/notesMaster" Target="/ppt/notesMasters/notesMaster1.xml" Id="R4aea012356424d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64ceb99ab74ebc" /><Relationship Type="http://schemas.openxmlformats.org/officeDocument/2006/relationships/notesMaster" Target="/ppt/notesMasters/notesMaster1.xml" Id="R23130d73e5e443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63086b96fd4a91" /><Relationship Type="http://schemas.openxmlformats.org/officeDocument/2006/relationships/notesMaster" Target="/ppt/notesMasters/notesMaster1.xml" Id="Rc96a049884d549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本次先解释论文如何通过自然语言经验改善记忆使用，再介绍仓库中杨垚负责的个人试点。汇报署名需本人确认，已有试点贡献保持原归属。这里讨论的是个人阶段材料，尚无正式测试成绩。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来源：MetaMem，Findings of ACL 2026；仓库三阶段记录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这个例子说明为什么只检索更多事实不够。模型必须保留事件包含关系。元记忆尝试保存避免重复计数的通用经验，具体里程仍属于事实记忆。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来源：原论文 PDF 第 1 页 Figure 1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 与 E 不是两个名字不同的事实库。1800和1200是具体内容，判断总量与部分关系是使用方式。没有梯度更新不等于没有学习成本，因为仍要使用带答案的数据和多次调用。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来源：原论文 PDF 第 3 页，式 1 至 3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标准答案可以在训练反思中使用，但不能进入测试回答提示词。验证用来选规则，测试必须与开发分开。我们的十题已反复用于诊断，所以只能继续称开发集。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来源：原论文 PDF 第 3、11 页；本地入口接口说明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先从相同事实和当前规则采样多个回答，judge与答案比较，再反思每次成功或失败。随后提出增加、删除或修改规则的动作，同批动作经过冲突过滤后更新元记忆。整个循环更新的是显式经验。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来源：原论文 PDF 第 4 页 Figure 2，式 4 至 10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正文400道构建题在附录进一步分成350训练与50验证。原论文使用的模型、事实构建和judge规模都不同于本地试点，不能只看数字大小把两者直接排名。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来源：原论文 PDF 第 5、11 页，§4、附录 A.3 和 A.5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图中是原论文成绩而不是小组成绩。Qwen从67.50到71.90，Llama从66.17到69.08。不要把相对百分比与百分点混淆，也不要把分类分数重新等权平均替代原表Avg。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来源：原论文 PDF 第 6 页 Table 1，Avg 原值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消融是在相同论文条件下比较方法组件。它不能保证量化小模型同样获益。规则可能泛化过度，构建规则还需要反思和编辑调用，所以不能把方法理解为零成本提示词。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来源：原论文 PDF 第 7 页 Table 2，Qwen 部分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这是BM25 RAG简化试点，没有LightMem压缩和主题维护。三个集合没有直接共享会话，但源数据无稳定user_id，不能称用户级隔离。后续诊断都限定在十道开发题。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来源：docs/metamem-local-pilot.md；metamem-local-run-20261015.md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官方实现仅对同题有对有错的组更新，全对和全错都跳过。元数据有20个题号并不表示20题都贡献规则。后续v2重判没有产生新的反思或规则，因此不能称v2重新训练。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来源：外部 AI v1 实验记录；严格拒答 v2 敏感性分析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30条是重复观察，不是30道独立题。B2有一次评分分歧，保守统计保留uncertain。微小差距不足以支持稳定泛化收益，仍需查看逐题配对和评分可靠性。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来源：docs/metamem-stage1.md，保守复核统计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四组都在十题上各重复三次。晚餐补证据从1/3到3/3，说明覆盖作用；首饰唯一匹配数字的回答仍漏戒指，所以不能只报成功。自动角色预算没有一致方向，保留为可选负结果。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来源：docs/metamem-stage2.md，主实验与 oracle 分开统计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候选要求区分事件、时间、计数并停止猜测。基线本轮重新生成。候选改善明信片第2轮，但晚餐三轮退步。海报和Sapiens仍全部拒答失败，因此没有切换默认提示词。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来源：docs/metamem-stage3.md；reports/metamem-stage3-results.json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图展示实际输出量，不是独立速度基准。引用ID存在只能说明格式和来源可以匹配，不能证明内容支持结论。候选还有15条引用不支持、3条不确定，质量维度不能被压成单一正确率。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来源：第三阶段结果，正确性与依据质量分别评审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这三类现象分别涉及证据利用、跨事件推断和检索与利用交织。不能把全部问题归因检索，也不能用最后数字匹配来证明推理成立。晚餐则说明真正食材没有检索到时，规则很难凭空补齐事实。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来源：第一至三阶段逐题证据与错误分析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原论文和本地试点不同设置不能混算。三次重复不扩大独立题目数。负结果仍然回答了当前候选是否值得采用，但不能证明所有元记忆、所有检索或提示词方法均无效。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来源：统一阶段总报告；课程交付差距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我们已有可解释的研究链条，下一步优先处理人的验收和独立评估边界，不追加第四种方案来追分。课设现有通知要求系统Word、PPT和录好视频，没有明确60分钟。个人材料不代替全组六篇整合。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来源：docs/metamem-course-readiness.md；老师原始通知第 1、4 页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完整链接为https://aclanthology.org/2026.findings-acl.270/。方法见PDF第3至5页，主表第6页，消融第7页，五折设置第11页。代码来自OpenBMB/MetaMem固定提交66232c1cb33d3d7939d323b431f21c741785142e。已有个人试点负责人杨垚；汇报人应在阅读核验后填写署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来源：https://aclanthology.org/2026.findings-acl.270/</a:t>
            </a:r>
          </a:p>
          <a:p xmlns:a="http://schemas.openxmlformats.org/drawingml/2006/main">
            <a:r>
              <a:t>论文：https://aclanthology.org/2026.findings-acl.270/</a:t>
            </a:r>
          </a:p>
          <a:p xmlns:a="http://schemas.openxmlformats.org/drawingml/2006/main">
            <a:r>
              <a:t>仓库真实试点贡献：杨垚；整理与汇报署名待本人填写。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d750a35524b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1968a76504b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74718709a48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d15ccdd1d4c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fa7a4c36840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f708ff6fa43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7154E6-B9E0-461B-B283-674DC02DB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D425E7-A5DE-42E5-82A3-94C074D463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853358-8F47-47DB-A05E-D526C75252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3751A1-5CAD-43C3-88E0-26246CD76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C96247-156C-499E-8236-EEEF3EB4FF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B5A3F9-1436-44AF-9296-88587FA96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D11E8C-DA3E-42AA-8866-E059EBA2C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0BCD8-E912-4ACF-8184-5A5846D51A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07AE0B-84A9-4A4D-B0DB-DFA3136B1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8ACF1C-FB00-4E25-ACB8-678778E63B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fde789e9804176" /><Relationship Type="http://schemas.openxmlformats.org/officeDocument/2006/relationships/slideLayout" Target="/ppt/slideLayouts/slideLayout1.xml" Id="R56ec2612472c464e" /><Relationship Type="http://schemas.openxmlformats.org/officeDocument/2006/relationships/slideLayout" Target="/ppt/slideLayouts/slideLayout2.xml" Id="R44a59af855dc4233" /><Relationship Type="http://schemas.openxmlformats.org/officeDocument/2006/relationships/slideLayout" Target="/ppt/slideLayouts/slideLayout3.xml" Id="Ra2e20ea9fa9348e1" /><Relationship Type="http://schemas.openxmlformats.org/officeDocument/2006/relationships/slideLayout" Target="/ppt/slideLayouts/slideLayout4.xml" Id="R194b199f23c44929" /><Relationship Type="http://schemas.openxmlformats.org/officeDocument/2006/relationships/slideLayout" Target="/ppt/slideLayouts/slideLayout5.xml" Id="R509034b761444295" /><Relationship Type="http://schemas.openxmlformats.org/officeDocument/2006/relationships/slideLayout" Target="/ppt/slideLayouts/slideLayout6.xml" Id="Rb1b4f8d983b644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ec2612472c464e"/>
    <p:sldLayoutId xmlns:r="http://schemas.openxmlformats.org/officeDocument/2006/relationships" id="2147483650" r:id="R44a59af855dc4233"/>
    <p:sldLayoutId xmlns:r="http://schemas.openxmlformats.org/officeDocument/2006/relationships" id="2147483651" r:id="Ra2e20ea9fa9348e1"/>
    <p:sldLayoutId xmlns:r="http://schemas.openxmlformats.org/officeDocument/2006/relationships" id="2147483652" r:id="R194b199f23c44929"/>
    <p:sldLayoutId xmlns:r="http://schemas.openxmlformats.org/officeDocument/2006/relationships" id="2147483653" r:id="R509034b761444295"/>
    <p:sldLayoutId xmlns:r="http://schemas.openxmlformats.org/officeDocument/2006/relationships" id="2147483654" r:id="Rb1b4f8d983b644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5225847c7456b" /><Relationship Type="http://schemas.openxmlformats.org/officeDocument/2006/relationships/notesSlide" Target="/ppt/notesSlides/notesSlide1.xml" Id="Rfe584c5104ff45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11cf149304f78" /><Relationship Type="http://schemas.openxmlformats.org/officeDocument/2006/relationships/notesSlide" Target="/ppt/notesSlides/notesSlide2.xml" Id="R6e32c6319c4c49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90a94557e48ac" /><Relationship Type="http://schemas.openxmlformats.org/officeDocument/2006/relationships/notesSlide" Target="/ppt/notesSlides/notesSlide3.xml" Id="Rfceb9a3ef1994f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c40bcbafb411a" /><Relationship Type="http://schemas.openxmlformats.org/officeDocument/2006/relationships/notesSlide" Target="/ppt/notesSlides/notesSlide4.xml" Id="R4685ba021ea740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8940359184f70" /><Relationship Type="http://schemas.openxmlformats.org/officeDocument/2006/relationships/image" Target="/ppt/media/image.png" Id="R7b1419bd9cf94e8c" /><Relationship Type="http://schemas.openxmlformats.org/officeDocument/2006/relationships/notesSlide" Target="/ppt/notesSlides/notesSlide5.xml" Id="R4a88f1edc6e843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47b1db5be46e9" /><Relationship Type="http://schemas.openxmlformats.org/officeDocument/2006/relationships/notesSlide" Target="/ppt/notesSlides/notesSlide6.xml" Id="Rf58d56995bd941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22103a7104dc3" /><Relationship Type="http://schemas.openxmlformats.org/officeDocument/2006/relationships/chart" Target="/ppt/slides/charts/chart1.xml" Id="R5a064a400a62446b" /><Relationship Type="http://schemas.openxmlformats.org/officeDocument/2006/relationships/notesSlide" Target="/ppt/notesSlides/notesSlide7.xml" Id="Re220aa1be92b4a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33e344daa4f86" /><Relationship Type="http://schemas.openxmlformats.org/officeDocument/2006/relationships/notesSlide" Target="/ppt/notesSlides/notesSlide8.xml" Id="Rbe5c476519a449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b8d08a3014072" /><Relationship Type="http://schemas.openxmlformats.org/officeDocument/2006/relationships/notesSlide" Target="/ppt/notesSlides/notesSlide9.xml" Id="R1fda282fc4214d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50aea866645a4" /><Relationship Type="http://schemas.openxmlformats.org/officeDocument/2006/relationships/notesSlide" Target="/ppt/notesSlides/notesSlide10.xml" Id="Rb287af6414514b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c2e90a8f64b34" /><Relationship Type="http://schemas.openxmlformats.org/officeDocument/2006/relationships/notesSlide" Target="/ppt/notesSlides/notesSlide11.xml" Id="Rf31e9602cc344e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a18ff4aa04008" /><Relationship Type="http://schemas.openxmlformats.org/officeDocument/2006/relationships/notesSlide" Target="/ppt/notesSlides/notesSlide12.xml" Id="Rf7cc61a3d28f4f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e0440e1494030" /><Relationship Type="http://schemas.openxmlformats.org/officeDocument/2006/relationships/chart" Target="/ppt/slides/charts/chart2.xml" Id="R79ffb84829b5494e" /><Relationship Type="http://schemas.openxmlformats.org/officeDocument/2006/relationships/notesSlide" Target="/ppt/notesSlides/notesSlide13.xml" Id="Rd212251932e04a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a2abc57dd6422a" /><Relationship Type="http://schemas.openxmlformats.org/officeDocument/2006/relationships/chart" Target="/ppt/slides/charts/chart3.xml" Id="R5a18d27165cb4de8" /><Relationship Type="http://schemas.openxmlformats.org/officeDocument/2006/relationships/notesSlide" Target="/ppt/notesSlides/notesSlide14.xml" Id="R0848b03e057c43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b1afed50f240c9" /><Relationship Type="http://schemas.openxmlformats.org/officeDocument/2006/relationships/notesSlide" Target="/ppt/notesSlides/notesSlide15.xml" Id="Rf6dced5cc01b48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9c9c98c19f46d1" /><Relationship Type="http://schemas.openxmlformats.org/officeDocument/2006/relationships/notesSlide" Target="/ppt/notesSlides/notesSlide16.xml" Id="Rac985a7ad5f845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d6323879a4c6c" /><Relationship Type="http://schemas.openxmlformats.org/officeDocument/2006/relationships/notesSlide" Target="/ppt/notesSlides/notesSlide17.xml" Id="R4037366f45784a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7855200c64a87" /><Relationship Type="http://schemas.openxmlformats.org/officeDocument/2006/relationships/notesSlide" Target="/ppt/notesSlides/notesSlide18.xml" Id="Rfe0a4d35b4924c5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LightMem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Qwen3 30B A3B</c:v>
                </c:pt>
                <c:pt idx="1">
                  <c:v>Llama3.1 70B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67.5</c:v>
                </c:pt>
                <c:pt idx="1">
                  <c:v>66.17</c:v>
                </c:pt>
              </c:numCache>
            </c:numRef>
          </c:val>
        </c:ser>
        <c:ser>
          <c:idx val="1"/>
          <c:order val="1"/>
          <c:tx>
            <c:v>MetaMem</c:v>
          </c:tx>
          <c:spPr>
            <a:solidFill xmlns:a="http://schemas.openxmlformats.org/drawingml/2006/main">
              <a:srgbClr val="A85532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Qwen3 30B A3B</c:v>
                </c:pt>
                <c:pt idx="1">
                  <c:v>Llama3.1 70B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71.9</c:v>
                </c:pt>
                <c:pt idx="1">
                  <c:v>69.08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9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原提示词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第 1 轮</c:v>
                </c:pt>
                <c:pt idx="1">
                  <c:v>第 2 轮</c:v>
                </c:pt>
                <c:pt idx="2">
                  <c:v>第 3 轮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v>候选</c:v>
          </c:tx>
          <c:spPr>
            <a:solidFill xmlns:a="http://schemas.openxmlformats.org/drawingml/2006/main">
              <a:srgbClr val="A85532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第 1 轮</c:v>
                </c:pt>
                <c:pt idx="1">
                  <c:v>第 2 轮</c:v>
                </c:pt>
                <c:pt idx="2">
                  <c:v>第 3 轮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9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输出 token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原提示词</c:v>
                </c:pt>
                <c:pt idx="1">
                  <c:v>候选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9712</c:v>
                </c:pt>
                <c:pt idx="1">
                  <c:v>3116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9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eck-title">
            <a:extLst xmlns:a="http://schemas.openxmlformats.org/drawingml/2006/main">
              <a:ext uri="{FF2B5EF4-FFF2-40B4-BE49-F238E27FC236}">
                <a16:creationId xmlns:a16="http://schemas.microsoft.com/office/drawing/2014/main" id="{471D535C-A774-476B-96D0-30E8E516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MetaMem</a:t>
            </a:r>
          </a:p>
        </p:txBody>
      </p:sp>
      <p:sp>
        <p:nvSpPr>
          <p:cNvPr id="2" name="cover-topic">
            <a:extLst xmlns:a="http://schemas.openxmlformats.org/drawingml/2006/main">
              <a:ext uri="{FF2B5EF4-FFF2-40B4-BE49-F238E27FC236}">
                <a16:creationId xmlns:a16="http://schemas.microsoft.com/office/drawing/2014/main" id="{0E33B51D-2A9B-4EC6-8571-81C452B9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论文阅读与个人试点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05C65AB-18D9-4C90-9CBD-478ECC1C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057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长上下文场景结构化记忆建模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天津大学 NLP 第 8 队  专题 4 论文组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汇报人 __________   2026 年 10 月 19 日</a:t>
            </a:r>
          </a:p>
        </p:txBody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0F70E98-8614-41CA-9F88-5BC8727D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MetaMem，Findings of ACL 2026；仓库三阶段记录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D51523-114B-43C9-A667-C101ADC9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3319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89FDE4-F035-46F5-85E7-D7D2CDD3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正确片段仍可能形成错误答案</a:t>
            </a:r>
          </a:p>
        </p:txBody>
      </p:sp>
      <p:sp>
        <p:nvSpPr>
          <p:cNvPr id="2" name="main-explanation">
            <a:extLst xmlns:a="http://schemas.openxmlformats.org/drawingml/2006/main">
              <a:ext uri="{FF2B5EF4-FFF2-40B4-BE49-F238E27FC236}">
                <a16:creationId xmlns:a16="http://schemas.microsoft.com/office/drawing/2014/main" id="{A8C159A6-2DAC-4066-B9F9-C807CAE9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537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三次旅行合计 1800 英里，另一次旅行总计 1200 英里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另一次旅行的首日 300 英里已经包含在总量中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正确总量为 3000 英里，重复相加会得到 3300 英里</a:t>
            </a:r>
          </a:p>
        </p:txBody>
      </p:sp>
      <p:sp>
        <p:nvSpPr>
          <p:cNvPr id="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F4FB8EB-896F-45C1-A897-E9855C94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原论文 PDF 第 1 页 Figure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CFF780-8189-4EFD-9112-02ACD2E2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3404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5304C1-7ED7-4360-8450-5AA2221A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事实记忆 M 与元记忆 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7690B-B37E-4837-B8E9-ECCA55563F23}"/>
              </a:ext>
            </a:extLst>
          </p:cNvPr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7061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229350"/>
              </a:tblGrid>
              <a:tr h="5397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</a:tr>
              <a:tr h="5397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 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旅行总里程及事件背景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 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先判定包含关系，避免重复计数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">
            <a:extLst xmlns:a="http://schemas.openxmlformats.org/drawingml/2006/main">
              <a:ext uri="{FF2B5EF4-FFF2-40B4-BE49-F238E27FC236}">
                <a16:creationId xmlns:a16="http://schemas.microsoft.com/office/drawing/2014/main" id="{E9858666-99E7-4F00-A801-1F2E6D44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668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M 保存具体历史事实及其背景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E 保存跨问题可使用的事实处理策略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回答同时接收 q、M 与冻结的 E，模型权重保持不变</a:t>
            </a:r>
          </a:p>
        </p:txBody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EBF7598-8F5D-44FE-9325-380A7A20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原论文 PDF 第 3 页，式 1 至 3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8D4F524-6E53-4DE3-903D-B9978A78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3605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5C3B89-4B09-4FFD-BBD3-D7FD167A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训练反馈与测试回答的边界</a:t>
            </a:r>
          </a:p>
        </p:txBody>
      </p:sp>
      <p:sp>
        <p:nvSpPr>
          <p:cNvPr id="2" name="main-explanation">
            <a:extLst xmlns:a="http://schemas.openxmlformats.org/drawingml/2006/main">
              <a:ext uri="{FF2B5EF4-FFF2-40B4-BE49-F238E27FC236}">
                <a16:creationId xmlns:a16="http://schemas.microsoft.com/office/drawing/2014/main" id="{55C728B8-5F54-4D78-8711-8FF80BF3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537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训练题提供标准答案，支持判分、反思与经验编辑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开发集选择规则版本，选择过程不继续修改规则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测试只使用固定问题、检索事实和经验，参考答案单独评分</a:t>
            </a:r>
          </a:p>
        </p:txBody>
      </p:sp>
      <p:sp>
        <p:nvSpPr>
          <p:cNvPr id="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AC1F22-853D-4B5E-8DF1-773735C8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原论文 PDF 第 3、11 页；本地入口接口说明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C2C4C2-B4BB-474C-A970-6F9F2357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5020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68A9D3-553B-4D55-9FCB-6E8F0B1B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MetaMem 的学习循环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66A99-DD65-4F11-B8F7-C238B07D6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419bd9cf94e8c"/>
          <a:stretch xmlns:a="http://schemas.openxmlformats.org/drawingml/2006/main"/>
        </p:blipFill>
        <p:spPr>
          <a:xfrm xmlns:a="http://schemas.openxmlformats.org/drawingml/2006/main">
            <a:off x="2000089" y="1381125"/>
            <a:ext cx="8191822" cy="4991100"/>
          </a:xfrm>
          <a:prstGeom xmlns:a="http://schemas.openxmlformats.org/drawingml/2006/main" prst="rect">
            <a:avLst/>
          </a:prstGeom>
        </p:spPr>
      </p:pic>
      <p:sp>
        <p:nvSpPr>
          <p:cNvPr id="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A2E48C1-77E1-4CC7-8EB2-C0D85546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原论文 PDF 第 4 页 Figure 2，式 4 至 10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B18FEE4-3793-4513-83B3-CA0FE0DC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9037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37E872-1FD4-4B84-8766-3E360655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原论文的评估设置</a:t>
            </a:r>
          </a:p>
        </p:txBody>
      </p:sp>
      <p:sp>
        <p:nvSpPr>
          <p:cNvPr id="2" name="main-explanation">
            <a:extLst xmlns:a="http://schemas.openxmlformats.org/drawingml/2006/main">
              <a:ext uri="{FF2B5EF4-FFF2-40B4-BE49-F238E27FC236}">
                <a16:creationId xmlns:a16="http://schemas.microsoft.com/office/drawing/2014/main" id="{9B3D6CA9-879F-4ABF-B6DE-1F25110A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537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LongMemEval 共 500 题，五折每折 350 训练、50 验证、100 测试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LightMem 构建事实，MiniLM 检索 top-k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Qwen3 30B A3B 与 Llama3.1 70B 回答，Qwen3 235B A22B 判分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学习 5 轮、batch 50、每题采样 5 次</a:t>
            </a:r>
          </a:p>
        </p:txBody>
      </p:sp>
      <p:sp>
        <p:nvSpPr>
          <p:cNvPr id="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F690DE2-EBDD-4465-A84B-5450C316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原论文 PDF 第 5、11 页，§4、附录 A.3 和 A.5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7A96F7-87F5-4FA3-92F7-C5A3538A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2989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556A3F-D74B-4542-87F6-EB4D4B1B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原论文的平均指标</a:t>
            </a:r>
          </a:p>
        </p:txBody>
      </p:sp>
      <p:sp>
        <p:nvSpPr>
          <p:cNvPr id="2" name="chart-unit">
            <a:extLst xmlns:a="http://schemas.openxmlformats.org/drawingml/2006/main">
              <a:ext uri="{FF2B5EF4-FFF2-40B4-BE49-F238E27FC236}">
                <a16:creationId xmlns:a16="http://schemas.microsoft.com/office/drawing/2014/main" id="{B888FD03-BEE5-44A9-8802-EF119247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论文 Avg  百分数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631D172-D5BF-46C5-BFD9-374620F4B605}"/>
              </a:ext>
            </a:extLst>
          </p:cNvPr>
          <p:cNvGraphicFramePr/>
          <p:nvPr/>
        </p:nvGraphicFramePr>
        <p:xfrm>
          <a:off xmlns:a="http://schemas.openxmlformats.org/drawingml/2006/main" x="514350" y="1828800"/>
          <a:ext xmlns:a="http://schemas.openxmlformats.org/drawingml/2006/main" cx="73152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064a400a62446b"/>
          </a:graphicData>
        </a:graphic>
      </p:graphicFrame>
      <p:sp>
        <p:nvSpPr>
          <p:cNvPr id="4" name="chart-explanation">
            <a:extLst xmlns:a="http://schemas.openxmlformats.org/drawingml/2006/main">
              <a:ext uri="{FF2B5EF4-FFF2-40B4-BE49-F238E27FC236}">
                <a16:creationId xmlns:a16="http://schemas.microsoft.com/office/drawing/2014/main" id="{B03183F4-B273-4D44-87CA-A3A54C29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575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Qwen 绝对提高 4.40 个百分点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Llama 绝对提高 2.91 个百分点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总体提高并不保证所有任务均提高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859D66A-5D85-440B-B0AD-BAF3F2E4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原论文 PDF 第 6 页 Table 1，Avg 原值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694E01-98EE-4DEE-ADD3-DB120BB8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97273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3E65C2-55F2-4C00-8927-138F9DF4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反思和演化的消融证据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3D0C9-CBCE-4ECE-8054-26009D5EB12E}"/>
              </a:ext>
            </a:extLst>
          </p:cNvPr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7061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229350"/>
              </a:tblGrid>
              <a:tr h="523875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</a:tr>
              <a:tr h="523875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MetaMem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71.90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无自反思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523875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无演化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68.33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">
            <a:extLst xmlns:a="http://schemas.openxmlformats.org/drawingml/2006/main">
              <a:ext uri="{FF2B5EF4-FFF2-40B4-BE49-F238E27FC236}">
                <a16:creationId xmlns:a16="http://schemas.microsoft.com/office/drawing/2014/main" id="{E4A4E4E3-EBBA-4FDF-8D2C-6835686F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668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完整方法的 Avg 为 71.90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移除反思后为 70.02，移除演化后为 68.33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这些结果支持对应组件在论文设置下的作用</a:t>
            </a:r>
          </a:p>
        </p:txBody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80EF6F-9B29-4BDB-8953-514B2957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原论文 PDF 第 7 页 Table 2，Qwen 部分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36650AB-8F59-4615-8B4F-ECA5FF40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5554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7183AA-1F31-48E4-B843-522FF49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本地试点的实现范围</a:t>
            </a:r>
          </a:p>
        </p:txBody>
      </p:sp>
      <p:sp>
        <p:nvSpPr>
          <p:cNvPr id="2" name="main-explanation">
            <a:extLst xmlns:a="http://schemas.openxmlformats.org/drawingml/2006/main">
              <a:ext uri="{FF2B5EF4-FFF2-40B4-BE49-F238E27FC236}">
                <a16:creationId xmlns:a16="http://schemas.microsoft.com/office/drawing/2014/main" id="{0195846B-00A1-49C0-8400-544A910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537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原始消息分块与 BM25，固定 top-k 20、12000 字符事实预算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固定 20 训练、10 开发、20 保留测试，测试尚未运行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Qwen2.5 7B Q4_K_M，8192 上下文，外部 AI 文件评分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共享事实比较空规则、固定人工规则与学习规则</a:t>
            </a:r>
          </a:p>
        </p:txBody>
      </p:sp>
      <p:sp>
        <p:nvSpPr>
          <p:cNvPr id="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11C7E1F-36C6-4848-811B-C7DF3DDA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docs/metamem-local-pilot.md；metamem-local-run-20261015.md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BDDFB6-D3F4-4063-97F6-39E71528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64291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1DA3EE-2A21-47A0-97F3-798B8C8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真实学习只形成一条经验</a:t>
            </a:r>
          </a:p>
        </p:txBody>
      </p:sp>
      <p:sp>
        <p:nvSpPr>
          <p:cNvPr id="2" name="main-explanation">
            <a:extLst xmlns:a="http://schemas.openxmlformats.org/drawingml/2006/main">
              <a:ext uri="{FF2B5EF4-FFF2-40B4-BE49-F238E27FC236}">
                <a16:creationId xmlns:a16="http://schemas.microsoft.com/office/drawing/2014/main" id="{6CCA6845-336E-4AD6-A870-BA9D937A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537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20 题每题两次采样，batch 5，1 epoch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唯一混合正误 Apex 题组触发 2 次反思、1 次提案、1 次合并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经验强调近期事实、交叉验证与历史语境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原验证存在 uncertain，未正式选定最终 B2</a:t>
            </a:r>
          </a:p>
        </p:txBody>
      </p:sp>
      <p:sp>
        <p:nvSpPr>
          <p:cNvPr id="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31F6FBF-7ABA-45FC-968E-EC4D059A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外部 AI v1 实验记录；严格拒答 v2 敏感性分析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0C29C87-3DA9-4F61-A9B6-2DE2F3BA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0784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1A7678-0549-426E-9B54-8E9D76C3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规则收益的稳定性检查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4B17C-AEC0-4DD3-8314-92CE804E67D3}"/>
              </a:ext>
            </a:extLst>
          </p:cNvPr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7061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76500"/>
                <a:gridCol w="2476500"/>
                <a:gridCol w="2038350"/>
              </a:tblGrid>
              <a:tr h="5397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uncertain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</a:tr>
              <a:tr h="5397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 空规则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冻结学习规则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">
            <a:extLst xmlns:a="http://schemas.openxmlformats.org/drawingml/2006/main">
              <a:ext uri="{FF2B5EF4-FFF2-40B4-BE49-F238E27FC236}">
                <a16:creationId xmlns:a16="http://schemas.microsoft.com/office/drawing/2014/main" id="{1346CA5C-2232-4A84-A7E9-9B36691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668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同一批 10 道开发题，各配置重复 3 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旧明信片优势未稳定重现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不确定项保留，不能当成答错</a:t>
            </a:r>
          </a:p>
        </p:txBody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33BD23C-4EFE-46BF-A120-EFF92A55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docs/metamem-stage1.md，保守复核统计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1587C0-E7E3-403A-9455-4016DD9D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947060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62B870-20CC-47FD-8768-E2D7549B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自动角色预算未显示稳定收益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E3C27-EEFF-4628-A733-6CDEF914BCEE}"/>
              </a:ext>
            </a:extLst>
          </p:cNvPr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7061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76500"/>
                <a:gridCol w="2476500"/>
                <a:gridCol w="2038350"/>
              </a:tblGrid>
              <a:tr h="4762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1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T w="9525">
                      <a:solidFill>
                        <a:srgbClr val="D3DEE5"/>
                      </a:solidFill>
                      <a:prstDash val="solid"/>
                    </a:lnT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E7F0F3"/>
                    </a:solidFill>
                  </a:tcPr>
                </a:tc>
              </a:tr>
              <a:tr h="4762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 BM25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16/30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 BM25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17/30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4762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角色预算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15/30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42875" tIns="76200" rIns="114300" bIns="76200"/>
                    <a:lstStyle/>
                    <a:p>
                      <a:pPr algn="l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E5"/>
                      </a:solidFill>
                      <a:prstDash val="solid"/>
                    </a:lnL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角色预算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76200" rIns="114300" bIns="76200"/>
                    <a:lstStyle/>
                    <a:p>
                      <a:pPr algn="ctr"/>
                      <a:r>
                        <a:rPr sz="1950" b="0">
                          <a:solidFill>
                            <a:srgbClr val="17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17/30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E5"/>
                      </a:solidFill>
                      <a:prstDash val="solid"/>
                    </a:lnR>
                    <a:lnB w="9525">
                      <a:solidFill>
                        <a:srgbClr val="D3DEE5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">
            <a:extLst xmlns:a="http://schemas.openxmlformats.org/drawingml/2006/main">
              <a:ext uri="{FF2B5EF4-FFF2-40B4-BE49-F238E27FC236}">
                <a16:creationId xmlns:a16="http://schemas.microsoft.com/office/drawing/2014/main" id="{8B140E49-E1FF-4F07-8A6D-0DD73C93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66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原检索与角色预算分别比较有无旧规则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角色预算未补齐已知食材和戒指缺口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两题补证据仅用于诊断，不能算自动检索提升</a:t>
            </a:r>
          </a:p>
        </p:txBody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C86E5F0-73D0-4698-ADB4-69DA59CD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docs/metamem-stage2.md，主实验与 oracle 分开统计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45058F-963D-4604-A9A4-C30D7246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574395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9B6113-0DA2-4548-B63C-49E4DFA3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证据约束提示词的正确性对照</a:t>
            </a:r>
          </a:p>
        </p:txBody>
      </p:sp>
      <p:sp>
        <p:nvSpPr>
          <p:cNvPr id="2" name="chart-unit">
            <a:extLst xmlns:a="http://schemas.openxmlformats.org/drawingml/2006/main">
              <a:ext uri="{FF2B5EF4-FFF2-40B4-BE49-F238E27FC236}">
                <a16:creationId xmlns:a16="http://schemas.microsoft.com/office/drawing/2014/main" id="{9BDA2017-D0C3-4C7F-8B45-6732BCF9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每轮十题中的判对次数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2E388E9-3853-4ACE-9279-205BCF0D56F8}"/>
              </a:ext>
            </a:extLst>
          </p:cNvPr>
          <p:cNvGraphicFramePr/>
          <p:nvPr/>
        </p:nvGraphicFramePr>
        <p:xfrm>
          <a:off xmlns:a="http://schemas.openxmlformats.org/drawingml/2006/main" x="514350" y="1828800"/>
          <a:ext xmlns:a="http://schemas.openxmlformats.org/drawingml/2006/main" cx="73152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ffb84829b5494e"/>
          </a:graphicData>
        </a:graphic>
      </p:graphicFrame>
      <p:sp>
        <p:nvSpPr>
          <p:cNvPr id="4" name="chart-explanation">
            <a:extLst xmlns:a="http://schemas.openxmlformats.org/drawingml/2006/main">
              <a:ext uri="{FF2B5EF4-FFF2-40B4-BE49-F238E27FC236}">
                <a16:creationId xmlns:a16="http://schemas.microsoft.com/office/drawing/2014/main" id="{F221A480-E2F2-43FA-8388-61017C62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575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事实相同，两组均无规则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原提示词合计 17/30，候选 15/30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仅候选对 1 次，仅原提示词对 3 次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3BEC9D-C615-4E73-83D6-3080C09A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docs/metamem-stage3.md；reports/metamem-stage3-results.json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0130108-2EB8-443E-9723-7EC5F7E6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802504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B6BFA3-47E9-4489-9803-8BA8D62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回答更短仍需要检查依据</a:t>
            </a:r>
          </a:p>
        </p:txBody>
      </p:sp>
      <p:sp>
        <p:nvSpPr>
          <p:cNvPr id="2" name="chart-unit">
            <a:extLst xmlns:a="http://schemas.openxmlformats.org/drawingml/2006/main">
              <a:ext uri="{FF2B5EF4-FFF2-40B4-BE49-F238E27FC236}">
                <a16:creationId xmlns:a16="http://schemas.microsoft.com/office/drawing/2014/main" id="{1E953CD7-BE1A-4648-A32C-110EB593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两组各 30 个回答的输出 token 合计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02014EA-E5DB-43D6-92BB-31EC79AC8DC2}"/>
              </a:ext>
            </a:extLst>
          </p:cNvPr>
          <p:cNvGraphicFramePr/>
          <p:nvPr/>
        </p:nvGraphicFramePr>
        <p:xfrm>
          <a:off xmlns:a="http://schemas.openxmlformats.org/drawingml/2006/main" x="514350" y="1828800"/>
          <a:ext xmlns:a="http://schemas.openxmlformats.org/drawingml/2006/main" cx="73152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18d27165cb4de8"/>
          </a:graphicData>
        </a:graphic>
      </p:graphicFrame>
      <p:sp>
        <p:nvSpPr>
          <p:cNvPr id="4" name="chart-explanation">
            <a:extLst xmlns:a="http://schemas.openxmlformats.org/drawingml/2006/main">
              <a:ext uri="{FF2B5EF4-FFF2-40B4-BE49-F238E27FC236}">
                <a16:creationId xmlns:a16="http://schemas.microsoft.com/office/drawing/2014/main" id="{D69104CF-8794-4504-A19D-17821A66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575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候选输出 token 合计减少约 67.9%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事实支持为 9/30 与 13/30，不确定项为 2 与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候选 28 条引用 ID 存在，引用支持仅 12 条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7DE85EB-CA11-43DC-A3EE-2ACBA74B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第三阶段结果，正确性与依据质量分别评审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0EE945-165A-466E-B0FE-F2F8B189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626742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15A959-3F03-432E-B09A-61B4B10D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三个案例说明不同错误来源</a:t>
            </a:r>
          </a:p>
        </p:txBody>
      </p:sp>
      <p:sp>
        <p:nvSpPr>
          <p:cNvPr id="2" name="main-explanation">
            <a:extLst xmlns:a="http://schemas.openxmlformats.org/drawingml/2006/main">
              <a:ext uri="{FF2B5EF4-FFF2-40B4-BE49-F238E27FC236}">
                <a16:creationId xmlns:a16="http://schemas.microsoft.com/office/drawing/2014/main" id="{20C273E2-126E-4203-8C16-2051CE90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537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明信片已有累计 25 的证据，模型仍可能误做减法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海报引用真实研究会议片段，却混淆为本科课程海报事件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首饰存在漏检，补齐后仍可能误读日期或计数单位</a:t>
            </a:r>
          </a:p>
        </p:txBody>
      </p:sp>
      <p:sp>
        <p:nvSpPr>
          <p:cNvPr id="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33545AD-8ECB-49DF-97DE-F948991C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第一至三阶段逐题证据与错误分析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B64541-AF01-4D9D-AB0F-F9DBFC29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62948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4B629C-20F0-4E24-8DDD-AAFD992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结论的适用范围</a:t>
            </a:r>
          </a:p>
        </p:txBody>
      </p:sp>
      <p:sp>
        <p:nvSpPr>
          <p:cNvPr id="2" name="main-explanation">
            <a:extLst xmlns:a="http://schemas.openxmlformats.org/drawingml/2006/main">
              <a:ext uri="{FF2B5EF4-FFF2-40B4-BE49-F238E27FC236}">
                <a16:creationId xmlns:a16="http://schemas.microsoft.com/office/drawing/2014/main" id="{EC95E9FE-8230-42A3-86E6-F7D4F740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537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十道开发题已反复用于方法设计，独立测试尚未运行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AI 主评与复核均无人工金标准，精确部署版本未知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衣物参考口径与观鸟时间异常仍需核对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角色预算和人工提示词都保留为候选，没有替换默认</a:t>
            </a:r>
          </a:p>
        </p:txBody>
      </p:sp>
      <p:sp>
        <p:nvSpPr>
          <p:cNvPr id="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F01C1E1-4ABF-40C6-9DAF-0165DDE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统一阶段总报告；课程交付差距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C56AF24-55D8-4397-A665-7AE22654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41704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4F108B-4072-466C-9AFC-713CC1DF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下一步与讲解自检</a:t>
            </a:r>
          </a:p>
        </p:txBody>
      </p:sp>
      <p:sp>
        <p:nvSpPr>
          <p:cNvPr id="2" name="main-explanation">
            <a:extLst xmlns:a="http://schemas.openxmlformats.org/drawingml/2006/main">
              <a:ext uri="{FF2B5EF4-FFF2-40B4-BE49-F238E27FC236}">
                <a16:creationId xmlns:a16="http://schemas.microsoft.com/office/drawing/2014/main" id="{BBF25A1B-5DE2-49ED-AA09-B61C3870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537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先集中核对代表性证据、参考口径和 AI 评分分歧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在看测试内容前冻结候选、配置、预算与一次性评估政策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本人应解释 M/E、更新筛选、开发与测试边界及负结果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小组还需六篇论文整合与最终视频，时长以老师通知为准</a:t>
            </a:r>
          </a:p>
        </p:txBody>
      </p:sp>
      <p:sp>
        <p:nvSpPr>
          <p:cNvPr id="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5B55FB7-C929-4B52-8B9B-040CCD23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docs/metamem-course-readiness.md；老师原始通知第 1、4 页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517049-34D3-4809-9328-3E1C6021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499000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7CB445-80D1-4AA2-A762-009DCDFC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C3C"/>
                </a:solidFill>
                <a:latin typeface="Microsoft YaHei"/>
                <a:ea typeface="Microsoft YaHei"/>
                <a:cs typeface="Microsoft YaHei"/>
              </a:rPr>
              <a:t>主要参考资料</a:t>
            </a:r>
          </a:p>
        </p:txBody>
      </p:sp>
      <p:sp>
        <p:nvSpPr>
          <p:cNvPr id="2" name="main-explanation">
            <a:extLst xmlns:a="http://schemas.openxmlformats.org/drawingml/2006/main">
              <a:ext uri="{FF2B5EF4-FFF2-40B4-BE49-F238E27FC236}">
                <a16:creationId xmlns:a16="http://schemas.microsoft.com/office/drawing/2014/main" id="{D9F2373E-8E32-4E23-AECE-AFC5BE99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537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MetaMem，Findings of ACL 2026，5473–5492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OpenBMB/MetaMem 固定版本 66232c1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仓库第一至三阶段报告与对应结构化结果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04452"/>
                </a:solidFill>
                <a:latin typeface="Microsoft YaHei"/>
                <a:ea typeface="Microsoft YaHei"/>
                <a:cs typeface="Microsoft YaHei"/>
              </a:rPr>
              <a:t>老师原始通知第 1、4、8–9 页</a:t>
            </a:r>
          </a:p>
        </p:txBody>
      </p:sp>
      <p:sp>
        <p:nvSpPr>
          <p:cNvPr id="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265E829-0B84-4082-BCE9-C2486EDD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https://aclanthology.org/2026.findings-acl.270/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4418CC9-0D93-4155-83FB-BC8BF7B4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43345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2026-10-19T00:53:53.8600000Z</dcterms:created>
  <dcterms:modified xsi:type="dcterms:W3CDTF">2026-10-19T00:53:53.8600000Z</dcterms:modified>
</coreProperties>
</file>