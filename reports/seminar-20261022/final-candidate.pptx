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dd72ef24df45e1" /><Relationship Type="http://schemas.openxmlformats.org/officeDocument/2006/relationships/extended-properties" Target="/docProps/app.xml" Id="R9405fa1f3a3545c4" /><Relationship Type="http://schemas.openxmlformats.org/officeDocument/2006/relationships/officeDocument" Target="/ppt/presentation.xml" Id="R814efb37bd3842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1a8622416d4c8c"/>
  </p:sldMasterIdLst>
  <p:notesMasterIdLst>
    <p:notesMasterId xmlns:r="http://schemas.openxmlformats.org/officeDocument/2006/relationships" r:id="R7710ef87c3814ade"/>
  </p:notesMasterIdLst>
  <p:sldIdLst>
    <p:sldId xmlns:r="http://schemas.openxmlformats.org/officeDocument/2006/relationships" id="256" r:id="R13dc7bbdea2c4d66"/>
    <p:sldId xmlns:r="http://schemas.openxmlformats.org/officeDocument/2006/relationships" id="257" r:id="Rf34e5b14a6f24388"/>
    <p:sldId xmlns:r="http://schemas.openxmlformats.org/officeDocument/2006/relationships" id="258" r:id="R157a0ffbb9a247ff"/>
    <p:sldId xmlns:r="http://schemas.openxmlformats.org/officeDocument/2006/relationships" id="259" r:id="R397aede126264ece"/>
    <p:sldId xmlns:r="http://schemas.openxmlformats.org/officeDocument/2006/relationships" id="260" r:id="R8f44d0797c9241dd"/>
    <p:sldId xmlns:r="http://schemas.openxmlformats.org/officeDocument/2006/relationships" id="261" r:id="R17fc011270e740d6"/>
    <p:sldId xmlns:r="http://schemas.openxmlformats.org/officeDocument/2006/relationships" id="262" r:id="R2d229043f68b43a7"/>
    <p:sldId xmlns:r="http://schemas.openxmlformats.org/officeDocument/2006/relationships" id="263" r:id="Ra7bf284587c24ed8"/>
    <p:sldId xmlns:r="http://schemas.openxmlformats.org/officeDocument/2006/relationships" id="264" r:id="R73bcb46dfd5e49bb"/>
    <p:sldId xmlns:r="http://schemas.openxmlformats.org/officeDocument/2006/relationships" id="265" r:id="Rcd89ee99600b4375"/>
    <p:sldId xmlns:r="http://schemas.openxmlformats.org/officeDocument/2006/relationships" id="266" r:id="Rbfa7df34d10f46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2383bc6e6441e9" /><Relationship Type="http://schemas.openxmlformats.org/officeDocument/2006/relationships/slideMaster" Target="/ppt/slideMasters/slideMaster1.xml" Id="R961a8622416d4c8c" /><Relationship Type="http://schemas.openxmlformats.org/officeDocument/2006/relationships/notesMaster" Target="/ppt/notesMasters/notesMaster1.xml" Id="R7710ef87c3814ade" /><Relationship Type="http://schemas.openxmlformats.org/officeDocument/2006/relationships/presProps" Target="/ppt/presProps.xml" Id="R20088deac28d4d2c" /><Relationship Type="http://schemas.openxmlformats.org/officeDocument/2006/relationships/tableStyles" Target="/ppt/tableStyles.xml" Id="R55259f122ea442fe" /><Relationship Type="http://schemas.openxmlformats.org/officeDocument/2006/relationships/slide" Target="/ppt/slides/slide1.xml" Id="R13dc7bbdea2c4d66" /><Relationship Type="http://schemas.openxmlformats.org/officeDocument/2006/relationships/slide" Target="/ppt/slides/slide2.xml" Id="Rf34e5b14a6f24388" /><Relationship Type="http://schemas.openxmlformats.org/officeDocument/2006/relationships/slide" Target="/ppt/slides/slide3.xml" Id="R157a0ffbb9a247ff" /><Relationship Type="http://schemas.openxmlformats.org/officeDocument/2006/relationships/slide" Target="/ppt/slides/slide4.xml" Id="R397aede126264ece" /><Relationship Type="http://schemas.openxmlformats.org/officeDocument/2006/relationships/slide" Target="/ppt/slides/slide5.xml" Id="R8f44d0797c9241dd" /><Relationship Type="http://schemas.openxmlformats.org/officeDocument/2006/relationships/slide" Target="/ppt/slides/slide6.xml" Id="R17fc011270e740d6" /><Relationship Type="http://schemas.openxmlformats.org/officeDocument/2006/relationships/slide" Target="/ppt/slides/slide7.xml" Id="R2d229043f68b43a7" /><Relationship Type="http://schemas.openxmlformats.org/officeDocument/2006/relationships/slide" Target="/ppt/slides/slide8.xml" Id="Ra7bf284587c24ed8" /><Relationship Type="http://schemas.openxmlformats.org/officeDocument/2006/relationships/slide" Target="/ppt/slides/slide9.xml" Id="R73bcb46dfd5e49bb" /><Relationship Type="http://schemas.openxmlformats.org/officeDocument/2006/relationships/slide" Target="/ppt/slides/slide10.xml" Id="Rcd89ee99600b4375" /><Relationship Type="http://schemas.openxmlformats.org/officeDocument/2006/relationships/slide" Target="/ppt/slides/slide11.xml" Id="Rbfa7df34d10f46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ee05d9085447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46a6d5fa7d4498" /><Relationship Type="http://schemas.openxmlformats.org/officeDocument/2006/relationships/notesMaster" Target="/ppt/notesMasters/notesMaster1.xml" Id="R081563471a7d46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9a6dcdb7164b0f" /><Relationship Type="http://schemas.openxmlformats.org/officeDocument/2006/relationships/notesMaster" Target="/ppt/notesMasters/notesMaster1.xml" Id="Refe31e0f13ff4f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dce06652334673" /><Relationship Type="http://schemas.openxmlformats.org/officeDocument/2006/relationships/notesMaster" Target="/ppt/notesMasters/notesMaster1.xml" Id="R62c7d8fecc1847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1dcfa6214047b5" /><Relationship Type="http://schemas.openxmlformats.org/officeDocument/2006/relationships/notesMaster" Target="/ppt/notesMasters/notesMaster1.xml" Id="Re77ed112de8940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d33cd6caf74dd6" /><Relationship Type="http://schemas.openxmlformats.org/officeDocument/2006/relationships/notesMaster" Target="/ppt/notesMasters/notesMaster1.xml" Id="Ra4be5e8cb4bf4c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76f4204c2c47a9" /><Relationship Type="http://schemas.openxmlformats.org/officeDocument/2006/relationships/notesMaster" Target="/ppt/notesMasters/notesMaster1.xml" Id="R45bb0cce2c9345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334e9dec43434e" /><Relationship Type="http://schemas.openxmlformats.org/officeDocument/2006/relationships/notesMaster" Target="/ppt/notesMasters/notesMaster1.xml" Id="R172afd2ab02044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aeaf2dd7264aff" /><Relationship Type="http://schemas.openxmlformats.org/officeDocument/2006/relationships/notesMaster" Target="/ppt/notesMasters/notesMaster1.xml" Id="R84dce0b2d3864e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3b12b98d42484e" /><Relationship Type="http://schemas.openxmlformats.org/officeDocument/2006/relationships/notesMaster" Target="/ppt/notesMasters/notesMaster1.xml" Id="R96e365e4ae5a49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4ceecb05134ef1" /><Relationship Type="http://schemas.openxmlformats.org/officeDocument/2006/relationships/notesMaster" Target="/ppt/notesMasters/notesMaster1.xml" Id="R03f69eeca16d42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a043fa5fdb42f3" /><Relationship Type="http://schemas.openxmlformats.org/officeDocument/2006/relationships/notesMaster" Target="/ppt/notesMasters/notesMaster1.xml" Id="R614f2835111946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 20 秒。</a:t>
            </a:r>
          </a:p>
          <a:p xmlns:a="http://schemas.openxmlformats.org/drawingml/2006/main">
            <a:r>
              <a:t>老师好，我们是第八队。我们的课设研究长对话中的结构化记忆，当前以 StructMem 为主方法。今天汇报固定三十道开发题上已经完成的系统对照，重点说明方法、真实进展，以及结果还能支持多强的结论。</a:t>
            </a:r>
          </a:p>
          <a:p xmlns:a="http://schemas.openxmlformats.org/drawingml/2006/main">
            <a:r>
              <a:t>来源：项目方案；A—F 固定提交，来源见 sources.md</a:t>
            </a:r>
          </a:p>
          <a:p xmlns:a="http://schemas.openxmlformats.org/drawingml/2006/main">
            <a:r>
              <a:t>AI辅助编制，成员人工验收未填写。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 45 秒。</a:t>
            </a:r>
          </a:p>
          <a:p xmlns:a="http://schemas.openxmlformats.org/drawingml/2006/main">
            <a:r>
              <a:t>长对话问答的难点并不只是上下文放不下。一个人可能多次谈旅行、工作和健康，关键词相似的句子不一定指同一次事件。即使检索到了事实，模型也可能把说话日期当成事件日期。比如四月十日说“去年去旅行”，问旅行年份时，不能回答四月十日。我们的切入点是给记忆保留事件、人物和时间来源，再观察这种组织方式是否帮助回答，同时记录它需要增加多少输入和构建成本。</a:t>
            </a:r>
          </a:p>
          <a:p xmlns:a="http://schemas.openxmlformats.org/drawingml/2006/main">
            <a:r>
              <a:t>来源：项目方案 §§1—4；真实案例 conv-41/20</a:t>
            </a:r>
          </a:p>
          <a:p xmlns:a="http://schemas.openxmlformats.org/drawingml/2006/main">
            <a:r>
              <a:t>AI辅助编制，成员人工验收未填写。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 60 秒。</a:t>
            </a:r>
          </a:p>
          <a:p xmlns:a="http://schemas.openxmlformats.org/drawingml/2006/main">
            <a:r>
              <a:t>数据和问题首先由 A 冻结，参考答案单独保存，不进入记忆构建或回答输入。普通检索基线 S 零由 B 实现，把原始对话切块，用本地 MiniLM 编码，再检索六十个片段。完整方法 S 二先由 C 抽取事实和关系，保存说话人、时间及来源，再由 D 做跨事件综合。回答时取六十条事件记忆和五条综合记忆。两条路径都对接 F 的统一回答入口，最后由 E 关联参考答案评分。这里比较的是两套系统，不能把分差只归因于某一个模块。</a:t>
            </a:r>
          </a:p>
          <a:p xmlns:a="http://schemas.openxmlformats.org/drawingml/2006/main">
            <a:r>
              <a:t>来源：A #38；B #37；C #43；D #41；F #35/#42/#44</a:t>
            </a:r>
          </a:p>
          <a:p xmlns:a="http://schemas.openxmlformats.org/drawingml/2006/main">
            <a:r>
              <a:t>AI辅助编制，成员人工验收未填写。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 50 秒。</a:t>
            </a:r>
          </a:p>
          <a:p xmlns:a="http://schemas.openxmlformats.org/drawingml/2006/main">
            <a:r>
              <a:t>目前已经做完的真实工作包括：三个开发会话、九十一个会话时段，共一千九百七十三条原始消息；普通基线完成三十题向量检索。事件抽取得到三千七百一十二条记忆，之后生成九十一条综合记忆。两种系统各完成三十条真实回答，E 也报告完成六十次裁判。我们保留了相对论文的替换：使用 DeepSeek 和本地轻量嵌入，关闭压缩与话题切分，部分绑定时间表示顺序而非真实发送时刻。因此这是有明确差异的方法复现。</a:t>
            </a:r>
          </a:p>
          <a:p xmlns:a="http://schemas.openxmlformats.org/drawingml/2006/main">
            <a:r>
              <a:t>来源：C 433de34；D 38214e5；F 49d8a67；E 1cfd177</a:t>
            </a:r>
          </a:p>
          <a:p xmlns:a="http://schemas.openxmlformats.org/drawingml/2006/main">
            <a:r>
              <a:t>AI辅助编制，成员人工验收未填写。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 80 秒。</a:t>
            </a:r>
          </a:p>
          <a:p xmlns:a="http://schemas.openxmlformats.org/drawingml/2006/main">
            <a:r>
              <a:t>先看结果的口径。原始自动裁判给普通基线十六题正确，完整系统十九题正确。证据复核发现普通基线有一条日期回答自相矛盾，将它改为错误，因此展示的复核后结果是十五比十九，即百分之五十和百分之六十三点三。分类差异主要来自时间题两道，开放域和单跳各一道，多跳相同。两组报告的评分覆盖都是三十题。与此同时，完整系统回答输入约是基线的四点四二倍，回答费用估算约一元一角七分，而基线约两角七分。这些费用尚未核账。我们已经核验六十条生成记录，但 E 的逐题裁判交接仍待独立复算。这里是三十道开发题的现象，不是稳定泛化提升的证明。</a:t>
            </a:r>
          </a:p>
          <a:p xmlns:a="http://schemas.openxmlformats.org/drawingml/2006/main">
            <a:r>
              <a:t>来源：E 1cfd177 汇总；本轮 answer-audit.json；成本未与账单核对</a:t>
            </a:r>
          </a:p>
          <a:p xmlns:a="http://schemas.openxmlformats.org/drawingml/2006/main">
            <a:r>
              <a:t>AI辅助编制，成员人工验收未填写。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 65 秒。</a:t>
            </a:r>
          </a:p>
          <a:p xmlns:a="http://schemas.openxmlformats.org/drawingml/2006/main">
            <a:r>
              <a:t>一个清楚的例子是公路旅行时间。原文在二零二三年四月十日说“我们去年进行的公路旅行”，下一条相关对话说明地点是太平洋西北。普通基线直接回答记录日期，完整系统回答去年，也就是二零二二年。另一道冰淇淋题在六月二十四日说“上周五”，普通基线却同时写六月二十四日和此前的星期五，因此复核修改了一次裁判标签。但并非所有错分都能归因系统。游戏平台和海滩住址两题的冻结参考缺少充分来源，我们保留原答案和分母，并单列限制。这些是人工智能辅助核查，还不是组员亲自验收。</a:t>
            </a:r>
          </a:p>
          <a:p xmlns:a="http://schemas.openxmlformats.org/drawingml/2006/main">
            <a:r>
              <a:t>来源：冻结开发历史 D11:3/D11:5、D16:8；E 六例复核；本轮源文核对</a:t>
            </a:r>
          </a:p>
          <a:p xmlns:a="http://schemas.openxmlformats.org/drawingml/2006/main">
            <a:r>
              <a:t>AI辅助编制，成员人工验收未填写。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 50 秒。</a:t>
            </a:r>
          </a:p>
          <a:p xmlns:a="http://schemas.openxmlformats.org/drawingml/2006/main">
            <a:r>
              <a:t>创新性不能只靠给系统起一个新名字。现阶段我们的贡献是完成可复跑的适配和系统对照，并发现一个具体问题：结构化方法多用输入，是否值得，收益来自哪里？下一步先补事件记忆但关闭跨事件综合的 S 一，保持事件库和方法指令一致，检查综合模块的作用。之后才考虑把检索数量从六十减到三十，综合数量保持五条，比较质量和输入成本。两项都尚未执行，也不会在看见少量题变好后，就宣布方法具有稳定优势。</a:t>
            </a:r>
          </a:p>
          <a:p xmlns:a="http://schemas.openxmlformats.org/drawingml/2006/main">
            <a:r>
              <a:t>来源：项目方案 §§3、6—7；S1 与检索预算实验均未运行</a:t>
            </a:r>
          </a:p>
          <a:p xmlns:a="http://schemas.openxmlformats.org/drawingml/2006/main">
            <a:r>
              <a:t>AI辅助编制，成员人工验收未填写。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 65 秒。</a:t>
            </a:r>
          </a:p>
          <a:p xmlns:a="http://schemas.openxmlformats.org/drawingml/2006/main">
            <a:r>
              <a:t>六位成员的实际分工在表中列出。A 负责数据冻结和环境；B 负责原始对话检索及个人 MetaMem 阅读；C 构建事件记忆；D 做综合、检索和完整系统回答；E 固定评分并整理案例；F 提供统一调用、完成基线回答并负责材料整合。我们没有按提交数量或发言时间自动分摊贡献比例，这一栏需要全组根据实际工作确认。当前风险也很具体：评分程序的输入绑定和中断保存需要补丁审核，逐题裁判交接需要补全，真人排练与视频负责人尚未确认。这些交付事项与继续调模型是两回事。</a:t>
            </a:r>
          </a:p>
          <a:p xmlns:a="http://schemas.openxmlformats.org/drawingml/2006/main">
            <a:r>
              <a:t>来源：项目方案 §8；Issues #19/#24/#26/#28/#31/#32；成员原稿</a:t>
            </a:r>
          </a:p>
          <a:p xmlns:a="http://schemas.openxmlformats.org/drawingml/2006/main">
            <a:r>
              <a:t>AI辅助编制，成员人工验收未填写。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 45 秒。</a:t>
            </a:r>
          </a:p>
          <a:p xmlns:a="http://schemas.openxmlformats.org/drawingml/2006/main">
            <a:r>
              <a:t>总结来说，我们已经建立固定数据到两套真实回答的闭环，并有自动评分报告和可追溯案例。当前观察是完整系统在开发集上多答对四题，但输入明显增加，因此不能只报一个更高分数。提交前优先补齐评分交接、署名比例和排练录制安排，不再为成绩好看增加实验。研讨之后先完成 S 一消融，再决定检索预算实验是否值得做。我们会据证据说明已经完成什么、还不能证明什么。谢谢老师。</a:t>
            </a:r>
          </a:p>
          <a:p xmlns:a="http://schemas.openxmlformats.org/drawingml/2006/main">
            <a:r>
              <a:t>来源：教师通知：22/26/29 日；云盘有效期 22 日 14:30（北京时间）</a:t>
            </a:r>
          </a:p>
          <a:p xmlns:a="http://schemas.openxmlformats.org/drawingml/2006/main">
            <a:r>
              <a:t>AI辅助编制，成员人工验收未填写。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来源：C/D/F/E 固定汇总；失败用量未知不按 0 处理</a:t>
            </a:r>
          </a:p>
          <a:p xmlns:a="http://schemas.openxmlformats.org/drawingml/2006/main">
            <a:r>
              <a:t>AI辅助编制，成员人工验收未填写。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来源：项目方案、教师通知、#46 审核意见</a:t>
            </a:r>
          </a:p>
          <a:p xmlns:a="http://schemas.openxmlformats.org/drawingml/2006/main">
            <a:r>
              <a:t>AI辅助编制，成员人工验收未填写。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77fd6fa544b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1532f236449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f2f5fd98546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a6153ba104e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33593debc44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914ad34f946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9034FB-9860-4538-8CEB-CF65889598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1DFB03-7656-4F7B-B0F9-01297F41A6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9134D4-B2D4-4A9B-B4E8-3F0229B2F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113A3E-5DEB-40EF-8EF7-99D1EC262E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D39CF9E-13B2-4AC5-9B9C-8E44713C6C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8F88A5-4596-4347-AE9D-C62B66A663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F4AA9C-766A-4D9D-90AA-CBB8545FAB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50E3CD-74EA-4E58-AF58-EB4DC4AFDC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DA230A-1738-4EEA-8036-84D207953D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9337E6-581A-49A8-BBDF-10B899C0A9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22489a2abd45db" /><Relationship Type="http://schemas.openxmlformats.org/officeDocument/2006/relationships/slideLayout" Target="/ppt/slideLayouts/slideLayout1.xml" Id="Rcf08ceb9425f42d6" /><Relationship Type="http://schemas.openxmlformats.org/officeDocument/2006/relationships/slideLayout" Target="/ppt/slideLayouts/slideLayout2.xml" Id="R6daabda4e9ee4469" /><Relationship Type="http://schemas.openxmlformats.org/officeDocument/2006/relationships/slideLayout" Target="/ppt/slideLayouts/slideLayout3.xml" Id="Rb99f871da4864019" /><Relationship Type="http://schemas.openxmlformats.org/officeDocument/2006/relationships/slideLayout" Target="/ppt/slideLayouts/slideLayout4.xml" Id="R71f98ec5afc14db1" /><Relationship Type="http://schemas.openxmlformats.org/officeDocument/2006/relationships/slideLayout" Target="/ppt/slideLayouts/slideLayout5.xml" Id="Rcbe270b73fe94200" /><Relationship Type="http://schemas.openxmlformats.org/officeDocument/2006/relationships/slideLayout" Target="/ppt/slideLayouts/slideLayout6.xml" Id="R6ba712684a764a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08ceb9425f42d6"/>
    <p:sldLayoutId xmlns:r="http://schemas.openxmlformats.org/officeDocument/2006/relationships" id="2147483650" r:id="R6daabda4e9ee4469"/>
    <p:sldLayoutId xmlns:r="http://schemas.openxmlformats.org/officeDocument/2006/relationships" id="2147483651" r:id="Rb99f871da4864019"/>
    <p:sldLayoutId xmlns:r="http://schemas.openxmlformats.org/officeDocument/2006/relationships" id="2147483652" r:id="R71f98ec5afc14db1"/>
    <p:sldLayoutId xmlns:r="http://schemas.openxmlformats.org/officeDocument/2006/relationships" id="2147483653" r:id="Rcbe270b73fe94200"/>
    <p:sldLayoutId xmlns:r="http://schemas.openxmlformats.org/officeDocument/2006/relationships" id="2147483654" r:id="R6ba712684a764a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157f10dcd14aee" /><Relationship Type="http://schemas.openxmlformats.org/officeDocument/2006/relationships/notesSlide" Target="/ppt/notesSlides/notesSlide1.xml" Id="Reda131b339a947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850538e89a4c85" /><Relationship Type="http://schemas.openxmlformats.org/officeDocument/2006/relationships/notesSlide" Target="/ppt/notesSlides/notesSlide2.xml" Id="R4d114b35c67648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af6fcd06d42fa" /><Relationship Type="http://schemas.openxmlformats.org/officeDocument/2006/relationships/notesSlide" Target="/ppt/notesSlides/notesSlide3.xml" Id="Rb3620eb3d16c4f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eaf870b6ae4195" /><Relationship Type="http://schemas.openxmlformats.org/officeDocument/2006/relationships/notesSlide" Target="/ppt/notesSlides/notesSlide4.xml" Id="Rd238360100774b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34cb7b85a4733" /><Relationship Type="http://schemas.openxmlformats.org/officeDocument/2006/relationships/chart" Target="/ppt/slides/charts/chart1.xml" Id="R03fb7ad6f7234c88" /><Relationship Type="http://schemas.openxmlformats.org/officeDocument/2006/relationships/notesSlide" Target="/ppt/notesSlides/notesSlide5.xml" Id="Rc0ac4f27c16140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c3fdeeca0d4ebb" /><Relationship Type="http://schemas.openxmlformats.org/officeDocument/2006/relationships/notesSlide" Target="/ppt/notesSlides/notesSlide6.xml" Id="Rd18f3544cc6c47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740aa9c3ca442b" /><Relationship Type="http://schemas.openxmlformats.org/officeDocument/2006/relationships/notesSlide" Target="/ppt/notesSlides/notesSlide7.xml" Id="R6b31eaa3204643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34570c54324996" /><Relationship Type="http://schemas.openxmlformats.org/officeDocument/2006/relationships/notesSlide" Target="/ppt/notesSlides/notesSlide8.xml" Id="R12785db4172643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ed5487f1d74a15" /><Relationship Type="http://schemas.openxmlformats.org/officeDocument/2006/relationships/notesSlide" Target="/ppt/notesSlides/notesSlide9.xml" Id="R6aaaa1d039044a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8211f8426472e" /><Relationship Type="http://schemas.openxmlformats.org/officeDocument/2006/relationships/notesSlide" Target="/ppt/notesSlides/notesSlide10.xml" Id="R52e7c81d464d4d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d6331d886c4c6d" /><Relationship Type="http://schemas.openxmlformats.org/officeDocument/2006/relationships/notesSlide" Target="/ppt/notesSlides/notesSlide11.xml" Id="R4d4b04f7c62c465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S0</c:v>
          </c:tx>
          <c:spPr>
            <a:solidFill xmlns:a="http://schemas.openxmlformats.org/drawingml/2006/main">
              <a:srgbClr val="91B6D1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1 多跳</c:v>
                </c:pt>
                <c:pt idx="1">
                  <c:v>2 时间</c:v>
                </c:pt>
                <c:pt idx="2">
                  <c:v>3 开放域</c:v>
                </c:pt>
                <c:pt idx="3">
                  <c:v>4 单跳</c:v>
                </c:pt>
              </c:strCache>
            </c:strRef>
          </c:cat>
          <c:val>
            <c:numRef>
              <c:f>'Chart Data'!$B$2:$B$5</c:f>
              <c:numCache>
                <c:formatCode>0"%"</c:formatCode>
                <c:ptCount val="4"/>
                <c:pt idx="0">
                  <c:v>50</c:v>
                </c:pt>
                <c:pt idx="1">
                  <c:v>62.5</c:v>
                </c:pt>
                <c:pt idx="2">
                  <c:v>28.6</c:v>
                </c:pt>
                <c:pt idx="3">
                  <c:v>57.1</c:v>
                </c:pt>
              </c:numCache>
            </c:numRef>
          </c:val>
        </c:ser>
        <c:ser>
          <c:idx val="1"/>
          <c:order val="1"/>
          <c:tx>
            <c:v>S2</c:v>
          </c:tx>
          <c:spPr>
            <a:solidFill xmlns:a="http://schemas.openxmlformats.org/drawingml/2006/main">
              <a:srgbClr val="28649A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1 多跳</c:v>
                </c:pt>
                <c:pt idx="1">
                  <c:v>2 时间</c:v>
                </c:pt>
                <c:pt idx="2">
                  <c:v>3 开放域</c:v>
                </c:pt>
                <c:pt idx="3">
                  <c:v>4 单跳</c:v>
                </c:pt>
              </c:strCache>
            </c:strRef>
          </c:cat>
          <c:val>
            <c:numRef>
              <c:f>'Chart Data'!$D$2:$D$5</c:f>
              <c:numCache>
                <c:formatCode>0"%"</c:formatCode>
                <c:ptCount val="4"/>
                <c:pt idx="0">
                  <c:v>50</c:v>
                </c:pt>
                <c:pt idx="1">
                  <c:v>87.5</c:v>
                </c:pt>
                <c:pt idx="2">
                  <c:v>42.9</c:v>
                </c:pt>
                <c:pt idx="3">
                  <c:v>71.4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3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D3ECB-6249-4B69-8675-096B6253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长对话结构化记忆复现与初步诊断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C7CF1-36E4-429B-8D3B-2BE2CB29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846D5-71C8-436D-B058-CCFC516B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rPr>
              <a:t>第 8 队 · 第一次课设研讨 · 2026.10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16924-B5D5-46F0-A6DB-A48364A7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研究问题：历史越来越长，如何保留并用对事件证据？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9E781-FD7F-4071-ADE8-B077B75E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StructMem 小规模方法复现｜固定 30 道开发题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1BC02-8FC3-4CBC-AE56-31017E0D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提交候选：署名、贡献比例与出场日期待全组确认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E2527-66BA-4499-8DAE-36E821EE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项目方案；A—F 固定提交，来源见 sources.md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98639-A2C7-4F21-880B-CD8CD053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1 / 11</a:t>
            </a:r>
          </a:p>
        </p:txBody>
      </p:sp>
    </p:spTree>
    <p:extLst>
      <p:ext uri="{BB962C8B-B14F-4D97-AF65-F5344CB8AC3E}">
        <p14:creationId xmlns:p14="http://schemas.microsoft.com/office/powerpoint/2010/main" val="333504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8B40F-9D40-41B0-8E38-6C693B8A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相关事实被找到，不代表事件被理解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6D368-5321-479B-A039-76CF4E91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DA42F-1077-44A5-8ABF-12284292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rPr>
              <a:t>原始对话不断增长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168C8-6395-4D88-8D02-762F97FF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同一人物在不同时间谈到不同事件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7099B-4C12-4123-8F94-BF5F4FE4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相似词容易召回“有关、但不是这一次”的片段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7E3DC-BD36-482C-A744-3B68B74D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记录时间与事件发生时间未必相同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41B01-F5CB-44E1-B069-BD00D622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4780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rPr>
              <a:t>我们的研究切入点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E2817-548F-4E05-98A2-F569FFF4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把事实、关系和事件来源一起保存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7CE0D-8730-4B54-94AB-8CF2B40B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先检索相关记忆，再让模型回答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88221-BD17-4A1B-9EDF-4F28D7E8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4812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比较回答质量，也报告输入与构建成本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F0990-704A-4B3D-9CE5-0098E44F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目标是可解释、可复跑的课程复现；不预设必须超过简单基线。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BD0EB-F26F-4A99-B6B5-B849D4E5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项目方案 §§1—4；真实案例 conv-41/20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0BD4F-A5D4-4BF9-A830-BB0BED32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1875760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782C8-2A82-470A-86AD-CBBCA280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两条回答路径，共用数据与调用入口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C62D5-13D7-42AC-B091-5CA40723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63D11-C055-4369-BC0E-C113BD62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55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71557-5A7E-4CD0-92DA-D59C3783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362075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A 固定会话与问题：答案另存，只在评分阶段关联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C3605-DF0A-4972-82C5-A244D6B6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098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1D44F-D2FF-491F-94BC-F8B569DC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55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26837-7643-4CBA-BB86-B1C33812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14575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S0：原始对话分块 → MiniLM 向量检索 top-60 → F 回答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07536-EAF4-4A2F-85CA-37DD9081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CB053-FB39-43CB-A483-5A8F9D3E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55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365E0-C3BB-4D69-B8D5-C104A5F9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67075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S2：事实/关系抽取 → 事件绑定 → 跨事件综合 → 60 事件 + 5 综合 → F 回答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74502-03CC-49DD-B3FE-72D04C6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98B6C-2D86-4B2B-9635-1F5BF738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55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29A25-9102-422F-8C8D-E2FE6DD0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19575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E：关联冻结参考 → 固定裁判 → 原始分数 + 独立证据复核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68B1F-5EE9-450C-8A34-79F8C72E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S0/S2 的记忆、输入形态和方法指令不同，是系统对照；S1 尚未运行。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E387E-4C47-4350-A64F-8F760665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A #38；B #37；C #43；D #41；F #35/#42/#44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ECC30-BC44-4212-AD09-CEB10953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3 / 11</a:t>
            </a:r>
          </a:p>
        </p:txBody>
      </p:sp>
    </p:spTree>
    <p:extLst>
      <p:ext uri="{BB962C8B-B14F-4D97-AF65-F5344CB8AC3E}">
        <p14:creationId xmlns:p14="http://schemas.microsoft.com/office/powerpoint/2010/main" val="1041622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99824-35E8-4346-8C35-5F77AA2D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已完成真实闭环；复现差异明确保留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2F12A-4CD5-4F01-8D73-C68E3A33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9"/>
          </a:solidFill>
          <a:ln xmlns:a="http://schemas.openxmlformats.org/drawingml/2006/main" w="0">
            <a:noFill/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A6172-06C2-41A0-B88B-F84DD165D20D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953000"/>
                <a:gridCol w="3238500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T w="5715">
                      <a:solidFill>
                        <a:srgbClr val="C7D9E9"/>
                      </a:solidFill>
                    </a:lnT>
                    <a:lnB w="5715">
                      <a:solidFill>
                        <a:srgbClr val="C7D9E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已完成的真实产物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T w="5715">
                      <a:solidFill>
                        <a:srgbClr val="C7D9E9"/>
                      </a:solidFill>
                    </a:lnT>
                    <a:lnB w="5715">
                      <a:solidFill>
                        <a:srgbClr val="C7D9E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口径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T w="5715">
                      <a:solidFill>
                        <a:srgbClr val="C7D9E9"/>
                      </a:solidFill>
                    </a:lnT>
                    <a:lnB w="5715">
                      <a:solidFill>
                        <a:srgbClr val="C7D9E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/ B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会话 · 30 题 · 每题 60 原始块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题为 30 题子集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 session · 1,973 消息 → 3,712 事件记忆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2,309 事实 + 1,403 关系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 条真实综合 · S2 回答 30/30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 事件 + 5 综合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 / 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 回答 30/30 · E 报告裁判 60/60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逐题裁判交接待完整复算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47843-62F0-4752-A97B-DF009E27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替换模型与嵌入；关闭压缩/话题切分；时间绑定含顺序构造。不是论文原设置逐字复现。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B79AE-A769-436D-9A7B-1F7E0098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C 433de34；D 38214e5；F 49d8a67；E 1cfd177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CD16B-97D5-4F67-B3F1-285E5581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4 / 11</a:t>
            </a:r>
          </a:p>
        </p:txBody>
      </p:sp>
    </p:spTree>
    <p:extLst>
      <p:ext uri="{BB962C8B-B14F-4D97-AF65-F5344CB8AC3E}">
        <p14:creationId xmlns:p14="http://schemas.microsoft.com/office/powerpoint/2010/main" val="319074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B06B6-651E-4EF1-AC03-CBCB1BBB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开发集：S2 多答对 4 题，输入约为 4.42 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09165-22E1-40F1-95C2-EED8BB18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9E6B7-E29C-4110-8CA3-8EAA0200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rPr>
              <a:t>S0  50.0%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561FB-503C-4A2C-92B6-AA18D9C2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3811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S2  63.3%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1B45F-5A67-4939-8448-65525B86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621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复核后；原始为 53.3% / 63.3%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B5E58EC-3464-4ED1-9916-57830569E013}"/>
              </a:ext>
            </a:extLst>
          </p:cNvPr>
          <p:cNvGraphicFramePr/>
          <p:nvPr/>
        </p:nvGraphicFramePr>
        <p:xfrm>
          <a:off xmlns:a="http://schemas.openxmlformats.org/drawingml/2006/main" x="523875" y="2476500"/>
          <a:ext xmlns:a="http://schemas.openxmlformats.org/drawingml/2006/main" cx="6572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fb7ad6f7234c8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C3E1A-6F55-4697-A892-915DAAFB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rPr>
              <a:t>输入成本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C200B-EA97-4D83-86DE-6C367288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90875"/>
            <a:ext cx="3905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132,531 → 586,282 tokens</a:t>
            </a:r>
          </a:p>
          <a:p xmlns:a="http://schemas.openxmlformats.org/drawingml/2006/main">
            <a:pPr>
              <a:def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约 4.42 倍</a:t>
            </a:r>
          </a:p>
          <a:p xmlns:a="http://schemas.openxmlformats.org/drawingml/2006/main">
            <a:pPr>
              <a:def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回答费用约 ¥0.27 → ¥1.17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93179-F414-467C-950F-1863F068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97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分母：8 / 8 / 7 / 7；每组共 30 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B4AB3-6DE7-44C9-AE28-48C32226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E 已报告；生成记录已逐条核验，60 条裁判尚待独立复算。开发集差异不代表稳定泛化。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11668-A041-4B87-AE1C-F54B886F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E 1cfd177 汇总；本轮 answer-audit.json；成本未与账单核对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153D9-5B49-4AED-80E4-02EAF000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5 / 11</a:t>
            </a:r>
          </a:p>
        </p:txBody>
      </p:sp>
    </p:spTree>
    <p:extLst>
      <p:ext uri="{BB962C8B-B14F-4D97-AF65-F5344CB8AC3E}">
        <p14:creationId xmlns:p14="http://schemas.microsoft.com/office/powerpoint/2010/main" val="1400392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C802E-AC54-46C9-BFE9-CD44C5FD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案例帮助解释结果，也暴露评分边界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B1B4C-192B-4A81-8860-A74C44AD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D7475-FD18-43ED-BFA7-697D4550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rPr>
              <a:t>相对时间：记录日期 ≠ 事件年份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61430-35A9-4360-BA92-AE4495D3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conv-41/20：问太平洋西北旅行时间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401E5-8B4A-423E-BB07-152C4959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3847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2023-04-10 的 D11:3：“a road trip we took last year”（节选）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F6DA0-868D-4A64-9807-1753C889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4332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S0：10 April, 2023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C183D-FF9D-4807-AC9F-48A0D047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S2：Last year (2022)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3CA47-DB0D-41D6-95E2-D6A9764D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4780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rPr>
              <a:t>错误和参考都要检查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DFB0F-9D7F-40F9-B856-968DA756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日期矛盾题 conv-42/28：S0 改判 1 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8DCDB-1168-40C4-9FE5-AE92CBB4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3847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conv-42/61：来源不足以证明具体游戏平台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1E50D-18B4-45A9-BD56-EF11CD38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conv-41/41：海景照片不能证明住址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7145B-C06D-4FB2-B94F-E77828AD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4817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保留参考和分母，单列证据不足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95852-4B68-496E-83F8-3FA65738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案例为 AI 辅助证据核查，人工验收未填写；观察到系统差异，不等于确定模块因果。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4970D-0856-461E-9F67-D7653F38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冻结开发历史 D11:3/D11:5、D16:8；E 六例复核；本轮源文核对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AAD2E-7DB7-4043-8941-DC233527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18032733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411A4-7132-41E9-9380-755A2374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创新性论证：从可检验的问题出发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7C921-3CE5-451E-A8EE-C083BE82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F8B19-FA35-4634-9EF4-DCFAC195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rPr>
              <a:t>本轮已得到的研究依据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86652-E6EC-4EF3-8212-C3767A9E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结构化路径在部分时间题表现不同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D3892-BE45-44A2-A29C-858BDDE8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回答输入增加约 4.42 倍，质量与成本需一起看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8EB6E-C74B-46E8-AB98-BE756115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仍存在证据不足、参考口径和判分可靠性问题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82B0E-4351-452A-AACE-56FA08D4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4780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649A"/>
                </a:solidFill>
                <a:latin typeface="Microsoft YaHei"/>
                <a:ea typeface="Microsoft YaHei"/>
                <a:cs typeface="Microsoft YaHei"/>
              </a:rPr>
              <a:t>研讨后的验证顺序（未执行）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8B583-1B7E-494E-9ED0-708FD688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先补 S1：同事件库、同指令，关闭跨事件综合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3CF26-67D5-4A8F-B266-49310431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再固定比较检索 30 与 60，综合数保持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8F16B-FD19-45EA-AD5A-6B011BE5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4812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按正确性、有效覆盖与输入成本决定是否保留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7947F-7B10-45E9-BF86-73985F12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课程贡献是可复跑的适配、对照与证据分析；尚不声称提出学术新方法。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16E23-6ABA-43B6-A33E-E7074E30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项目方案 §§3、6—7；S1 与检索预算实验均未运行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1E54D-B539-4716-947A-02CAA6E1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7 / 11</a:t>
            </a:r>
          </a:p>
        </p:txBody>
      </p:sp>
    </p:spTree>
    <p:extLst>
      <p:ext uri="{BB962C8B-B14F-4D97-AF65-F5344CB8AC3E}">
        <p14:creationId xmlns:p14="http://schemas.microsoft.com/office/powerpoint/2010/main" val="6501468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5BD05-C50F-4C2B-A2B2-93C057E4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六人已交付内容与剩余协作事项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8D2ED-B50D-433D-A42E-D102F965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9"/>
          </a:solidFill>
          <a:ln xmlns:a="http://schemas.openxmlformats.org/drawingml/2006/main" w="0">
            <a:noFill/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3E34B-CB6C-4FD6-A6C4-322FA933B327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810250"/>
                <a:gridCol w="2190750"/>
              </a:tblGrid>
              <a:tr h="55108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 / 账号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T w="5715">
                      <a:solidFill>
                        <a:srgbClr val="C7D9E9"/>
                      </a:solidFill>
                    </a:lnT>
                    <a:lnB w="5715">
                      <a:solidFill>
                        <a:srgbClr val="C7D9E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实际贡献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T w="5715">
                      <a:solidFill>
                        <a:srgbClr val="C7D9E9"/>
                      </a:solidFill>
                    </a:lnT>
                    <a:lnB w="5715">
                      <a:solidFill>
                        <a:srgbClr val="C7D9E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当前比例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T w="5715">
                      <a:solidFill>
                        <a:srgbClr val="C7D9E9"/>
                      </a:solidFill>
                    </a:lnT>
                    <a:lnB w="5715">
                      <a:solidFill>
                        <a:srgbClr val="C7D9E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· ngocnamd93-spec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冻结题单、答案隔离、嵌入环境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待全组确认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· YaoYang-123456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原始块 top-60、真实检索、MetaMem 阅读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待全组确认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· oioioi-521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事实/关系抽取、事件绑定与持久化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待全组确认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· lanshuheng9-oss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真实综合、S2 检索与回答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待全组确认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 · onlysonder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固定裁判、结果表与案例复核材料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待全组确认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 · hycx233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统一客户端、S0 回答、交接及全组整合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待全组确认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511DE-8A89-49D5-9732-5DC61C13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贡献比例不按发言时长或提交数推算。主讲、录制、上传负责人尚未确认。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F4D84-3DBC-44F9-9106-A6975946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项目方案 §8；Issues #19/#24/#26/#28/#31/#32；成员原稿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4477A-1EE0-46AA-B571-AB3324CC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8 / 11</a:t>
            </a:r>
          </a:p>
        </p:txBody>
      </p:sp>
    </p:spTree>
    <p:extLst>
      <p:ext uri="{BB962C8B-B14F-4D97-AF65-F5344CB8AC3E}">
        <p14:creationId xmlns:p14="http://schemas.microsoft.com/office/powerpoint/2010/main" val="17952802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A4543-1AC9-49B7-871A-DBB3A8C3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现在可以解释成果；下一步补齐验收与消融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75D60-B1B9-4AB9-8470-AA7FD39F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845F9-85C9-46F1-9208-E0E24B1C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已完成：固定数据 → 两套真实回答 → 自动评分报告与证据案例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A782C-3FB1-47F0-947A-5A392D6C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当前观察：S2 在本开发集多答对 4 题，代价是更大的输入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DA63A-668B-4756-AD11-83FE522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9090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提交前：逐题评分交接、成员署名与比例、排练及视频安排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05D4E-115B-463F-8054-17368091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研讨后：先做 S1 消融，再决定是否开展检索预算实验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9E918-D6F5-4654-B7C3-4A754892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按 10 月 21 日前可展示准备；实际场次以课程 Excel 为准。视频由组员提交。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D7F51-8890-419E-BAD1-4A56A096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教师通知：22/26/29 日；云盘有效期 22 日 14:30（北京时间）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BFD04-9CBB-4320-8982-2F513122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1016340450"/>
      </p:ext>
    </p:extLst>
  </p:cSld>
</p:sld>
</file>

<file path=ppt/slides/slide1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3223A-2175-4043-931D-DD66BBB1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备用：费用、计数与评价版本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1291C-009C-46B6-A2C2-EDD2A8F9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9"/>
          </a:solidFill>
          <a:ln xmlns:a="http://schemas.openxmlformats.org/drawingml/2006/main" w="0">
            <a:noFill/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3AB2D-5608-4E64-98AF-0C4E09A17EFF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953000"/>
                <a:gridCol w="3238500"/>
              </a:tblGrid>
              <a:tr h="603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T w="5715">
                      <a:solidFill>
                        <a:srgbClr val="C7D9E9"/>
                      </a:solidFill>
                    </a:lnT>
                    <a:lnB w="5715">
                      <a:solidFill>
                        <a:srgbClr val="C7D9E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 / token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T w="5715">
                      <a:solidFill>
                        <a:srgbClr val="C7D9E9"/>
                      </a:solidFill>
                    </a:lnT>
                    <a:lnB w="5715">
                      <a:solidFill>
                        <a:srgbClr val="C7D9E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已记录费用估算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T w="5715">
                      <a:solidFill>
                        <a:srgbClr val="C7D9E9"/>
                      </a:solidFill>
                    </a:lnT>
                    <a:lnB w="5715">
                      <a:solidFill>
                        <a:srgbClr val="C7D9E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事件抽取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182 成功；另 2 次连接失败、用量未知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单列，未纳入下方小计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跨事件综合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 次；339,859 tokens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¥0.894722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 / D 回答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 30 次；S2 30 次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¥0.268430 / ¥1.173988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 自动裁判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 次；9,353 tokens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未核账，未纳入小计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 + 综合小计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7D9E9"/>
                      </a:solidFill>
                    </a:lnL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不包含 C 抽取和 E 裁判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3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¥2.337140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7D9E9"/>
                      </a:solidFill>
                    </a:lnR>
                    <a:lnB w="5715">
                      <a:solidFill>
                        <a:srgbClr val="C7D9E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39989-7BEC-4146-8D40-BC4D9A6A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不是项目总账单。S0 16→15 是一条复核修订，不能混写原始与修订成绩。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0A8D7-E8AC-4358-AA21-CE64EDA2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C/D/F/E 固定汇总；失败用量未知不按 0 处理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25B28-BD46-4314-B0CB-672CCD11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286530444"/>
      </p:ext>
    </p:extLst>
  </p:cSld>
</p:sld>
</file>

<file path=ppt/slides/slide1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9E1FF-29D4-4913-A2F5-79AB578A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备用：对照边界与仍待确认的事项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495C7-2AD7-459C-8DC8-B27AF4B3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AB346-0860-4EA7-B228-694C4164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S0：原始块向量检索；S1：仅事件记忆；S2：事件 + 跨事件综合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C64D7-6839-4C6F-A5C1-D8BB543B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S1 未运行；S0/S2 还存在方法提示词与上下文体量差异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07053-FA6F-4E8C-9E68-44604D38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9090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原始裁判 ≠ AI 证据复核 ≠ 成员人工验收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0AFB7-6293-4802-955A-DB012BFE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34F"/>
                </a:solidFill>
                <a:latin typeface="Microsoft YaHei"/>
                <a:ea typeface="Microsoft YaHei"/>
                <a:cs typeface="Microsoft YaHei"/>
              </a:rPr>
              <a:t>尚待：逐题裁判交接、真实署名/比例、Excel 顺序、场次、格式与视频负责人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F5235-6F07-4DF0-BC1F-4C346AFB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8 分钟课设研讨视频与 11 月 1 日约 60 分钟阅读视频是不同交付。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75317-1EDF-47E8-A872-A27DFD32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项目方案、教师通知、#46 审核意见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A254C-26CA-495C-80E7-06979D09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6B7B"/>
                </a:solidFill>
                <a:latin typeface="Microsoft YaHei"/>
                <a:ea typeface="Microsoft YaHei"/>
                <a:cs typeface="Microsoft YaHei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2073672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2026-10-20T10:10:29.8440000Z</dcterms:created>
  <dcterms:modified xsi:type="dcterms:W3CDTF">2026-10-20T10:10:29.8440000Z</dcterms:modified>
</coreProperties>
</file>